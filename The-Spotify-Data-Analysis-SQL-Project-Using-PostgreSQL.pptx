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1695" cy="6858000"/>
  <p:notesSz cx="6858000" cy="12191695"/>
  <p:embeddedFontLst>
    <p:embeddedFont>
      <p:font typeface="Inter Bold"/>
      <p:regular r:id="rId201314"/>
    </p:embeddedFont>
    <p:embeddedFont>
      <p:font typeface="Inter"/>
      <p:regular r:id="rId201315"/>
    </p:embeddedFont>
    <p:embeddedFont>
      <p:font typeface="Inter Black"/>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4F4"/>
          </a:solidFill>
          <a:ln/>
        </p:spPr>
      </p:sp>
      <p:sp>
        <p:nvSpPr>
          <p:cNvPr id="3" name="Shape 1"/>
          <p:cNvSpPr/>
          <p:nvPr/>
        </p:nvSpPr>
        <p:spPr>
          <a:xfrm>
            <a:off x="0" y="0"/>
            <a:ext cx="12191695" cy="6858000"/>
          </a:xfrm>
          <a:prstGeom prst="rect">
            <a:avLst/>
          </a:prstGeom>
          <a:solidFill>
            <a:srgbClr val="1F7135"/>
          </a:solidFill>
          <a:ln/>
        </p:spPr>
      </p:sp>
      <p:pic>
        <p:nvPicPr>
          <p:cNvPr id="4"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5" name="Shape 2"/>
          <p:cNvSpPr/>
          <p:nvPr/>
        </p:nvSpPr>
        <p:spPr>
          <a:xfrm>
            <a:off x="0" y="0"/>
            <a:ext cx="12191695" cy="6858000"/>
          </a:xfrm>
          <a:prstGeom prst="rect">
            <a:avLst/>
          </a:prstGeom>
          <a:solidFill>
            <a:srgbClr val="1F7135">
              <a:alpha val="70000"/>
            </a:srgbClr>
          </a:solidFill>
          <a:ln/>
        </p:spPr>
      </p:sp>
      <p:pic>
        <p:nvPicPr>
          <p:cNvPr id="6"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4F4"/>
          </a:solidFill>
          <a:ln/>
        </p:spPr>
      </p:sp>
      <p:sp>
        <p:nvSpPr>
          <p:cNvPr id="3" name="Shape 1"/>
          <p:cNvSpPr/>
          <p:nvPr/>
        </p:nvSpPr>
        <p:spPr>
          <a:xfrm>
            <a:off x="0" y="0"/>
            <a:ext cx="12191695" cy="6858000"/>
          </a:xfrm>
          <a:prstGeom prst="rect">
            <a:avLst/>
          </a:prstGeom>
          <a:solidFill>
            <a:srgbClr val="1F7135"/>
          </a:solidFill>
          <a:ln/>
        </p:spPr>
      </p:sp>
      <p:pic>
        <p:nvPicPr>
          <p:cNvPr id="4"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5" name="Shape 2"/>
          <p:cNvSpPr/>
          <p:nvPr/>
        </p:nvSpPr>
        <p:spPr>
          <a:xfrm>
            <a:off x="0" y="0"/>
            <a:ext cx="12191695" cy="6858000"/>
          </a:xfrm>
          <a:prstGeom prst="rect">
            <a:avLst/>
          </a:prstGeom>
          <a:solidFill>
            <a:srgbClr val="1F7135">
              <a:alpha val="30000"/>
            </a:srgbClr>
          </a:solidFill>
          <a:ln/>
        </p:spPr>
      </p:sp>
      <p:pic>
        <p:nvPicPr>
          <p:cNvPr id="6"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master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4F4"/>
          </a:solidFill>
          <a:ln/>
        </p:spPr>
      </p:sp>
      <p:sp>
        <p:nvSpPr>
          <p:cNvPr id="3" name="Shape 1"/>
          <p:cNvSpPr/>
          <p:nvPr/>
        </p:nvSpPr>
        <p:spPr>
          <a:xfrm>
            <a:off x="0" y="0"/>
            <a:ext cx="12191695" cy="6858000"/>
          </a:xfrm>
          <a:prstGeom prst="rect">
            <a:avLst/>
          </a:prstGeom>
          <a:solidFill>
            <a:srgbClr val="1F7135"/>
          </a:solidFill>
          <a:ln/>
        </p:spPr>
      </p:sp>
      <p:pic>
        <p:nvPicPr>
          <p:cNvPr id="4"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5" name="Shape 2"/>
          <p:cNvSpPr/>
          <p:nvPr/>
        </p:nvSpPr>
        <p:spPr>
          <a:xfrm>
            <a:off x="0" y="0"/>
            <a:ext cx="12191695" cy="6858000"/>
          </a:xfrm>
          <a:prstGeom prst="rect">
            <a:avLst/>
          </a:prstGeom>
          <a:solidFill>
            <a:srgbClr val="1F7135">
              <a:alpha val="80000"/>
            </a:srgbClr>
          </a:solidFill>
          <a:ln/>
        </p:spPr>
      </p:sp>
      <p:pic>
        <p:nvPicPr>
          <p:cNvPr id="6"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61475" y="1458516"/>
            <a:ext cx="10868745" cy="1630363"/>
          </a:xfrm>
          <a:prstGeom prst="rect">
            <a:avLst/>
          </a:prstGeom>
          <a:noFill/>
          <a:ln/>
        </p:spPr>
        <p:txBody>
          <a:bodyPr wrap="square" lIns="0" tIns="0" rIns="0" bIns="0" rtlCol="0" anchor="t">
            <a:normAutofit/>
          </a:bodyPr>
          <a:lstStyle/>
          <a:p>
            <a:pPr algn="l" indent="0" marL="0">
              <a:lnSpc>
                <a:spcPct val="104000"/>
              </a:lnSpc>
              <a:buNone/>
            </a:pPr>
            <a:r>
              <a:rPr lang="en-US" sz="5100" b="1" spc="-154" kern="0" dirty="0">
                <a:solidFill>
                  <a:srgbClr val="FFFFFF"/>
                </a:solidFill>
                <a:latin typeface="Inter Bold" pitchFamily="34" charset="0"/>
                <a:ea typeface="Inter Bold" pitchFamily="34" charset="-122"/>
                <a:cs typeface="Inter Bold" pitchFamily="34" charset="-120"/>
              </a:rPr>
              <a:t>The </a:t>
            </a:r>
            <a:pPr algn="l" indent="0" marL="0">
              <a:lnSpc>
                <a:spcPct val="104000"/>
              </a:lnSpc>
              <a:buNone/>
            </a:pPr>
            <a:r>
              <a:rPr lang="en-US" sz="5100" b="1" spc="-154" kern="0" dirty="0">
                <a:solidFill>
                  <a:srgbClr val="FFFFFF"/>
                </a:solidFill>
                <a:latin typeface="Inter Bold" pitchFamily="34" charset="0"/>
                <a:ea typeface="Inter Bold" pitchFamily="34" charset="-122"/>
                <a:cs typeface="Inter Bold" pitchFamily="34" charset="-120"/>
              </a:rPr>
              <a:t>Spotify Data Analysis SQL Project Using PostgreSQL</a:t>
            </a:r>
            <a:endParaRPr lang="en-US" sz="5100" dirty="0"/>
          </a:p>
        </p:txBody>
      </p:sp>
      <p:sp>
        <p:nvSpPr>
          <p:cNvPr id="3" name="Text 1"/>
          <p:cNvSpPr/>
          <p:nvPr/>
        </p:nvSpPr>
        <p:spPr>
          <a:xfrm>
            <a:off x="661475" y="3372346"/>
            <a:ext cx="10868745" cy="2027138"/>
          </a:xfrm>
          <a:prstGeom prst="rect">
            <a:avLst/>
          </a:prstGeom>
          <a:noFill/>
          <a:ln/>
        </p:spPr>
        <p:txBody>
          <a:bodyPr wrap="square" lIns="0" tIns="0" rIns="0" bIns="0" rtlCol="0" anchor="t">
            <a:normAutofit/>
          </a:bodyPr>
          <a:lstStyle/>
          <a:p>
            <a:pPr algn="l" indent="0" marL="0">
              <a:lnSpc>
                <a:spcPct val="133000"/>
              </a:lnSpc>
              <a:spcAft>
                <a:spcPts val="1650"/>
              </a:spcAft>
              <a:buNone/>
            </a:pPr>
            <a:r>
              <a:rPr lang="en-US" sz="1450" spc="-30" kern="0" dirty="0">
                <a:solidFill>
                  <a:srgbClr val="FFFFFF"/>
                </a:solidFill>
                <a:latin typeface="Inter" pitchFamily="34" charset="0"/>
                <a:ea typeface="Inter" pitchFamily="34" charset="-122"/>
                <a:cs typeface="Inter" pitchFamily="34" charset="-120"/>
              </a:rPr>
              <a:t>The </a:t>
            </a:r>
            <a:pPr algn="l" indent="0" marL="0">
              <a:lnSpc>
                <a:spcPct val="133000"/>
              </a:lnSpc>
              <a:spcAft>
                <a:spcPts val="1650"/>
              </a:spcAft>
              <a:buNone/>
            </a:pPr>
            <a:r>
              <a:rPr lang="en-US" sz="1450" b="1" spc="-30" kern="0" dirty="0">
                <a:solidFill>
                  <a:srgbClr val="FFFFFF"/>
                </a:solidFill>
                <a:latin typeface="Inter Bold" pitchFamily="34" charset="0"/>
                <a:ea typeface="Inter Bold" pitchFamily="34" charset="-122"/>
                <a:cs typeface="Inter Bold" pitchFamily="34" charset="-120"/>
              </a:rPr>
              <a:t>Spotify Data Analysis SQL Project</a:t>
            </a:r>
            <a:pPr algn="l" indent="0" marL="0">
              <a:lnSpc>
                <a:spcPct val="133000"/>
              </a:lnSpc>
              <a:spcAft>
                <a:spcPts val="1650"/>
              </a:spcAft>
              <a:buNone/>
            </a:pPr>
            <a:r>
              <a:rPr lang="en-US" sz="1450" spc="-30" kern="0" dirty="0">
                <a:solidFill>
                  <a:srgbClr val="FFFFFF"/>
                </a:solidFill>
                <a:latin typeface="Inter" pitchFamily="34" charset="0"/>
                <a:ea typeface="Inter" pitchFamily="34" charset="-122"/>
                <a:cs typeface="Inter" pitchFamily="34" charset="-120"/>
              </a:rPr>
              <a:t> is a comprehensive data analytics portfolio project designed to explore, clean, and extract meaningful business insights from a Spotify dataset. The end-to-end journey encompassed downloading raw data from Kaggle, performing data inspection and cleaning (such as handling anomalies like zero-duration tracks), and importing the structured dataset into a PostgreSQL database.</a:t>
            </a:r>
            <a:endParaRPr lang="en-US" sz="1450" dirty="0"/>
          </a:p>
          <a:p>
            <a:pPr algn="l" indent="0" marL="0">
              <a:lnSpc>
                <a:spcPct val="133000"/>
              </a:lnSpc>
              <a:buNone/>
            </a:pPr>
            <a:r>
              <a:rPr lang="en-US" sz="1450" spc="-30" kern="0" dirty="0">
                <a:solidFill>
                  <a:srgbClr val="FFFFFF"/>
                </a:solidFill>
                <a:latin typeface="Inter" pitchFamily="34" charset="0"/>
                <a:ea typeface="Inter" pitchFamily="34" charset="-122"/>
                <a:cs typeface="Inter" pitchFamily="34" charset="-120"/>
              </a:rPr>
              <a:t>To address real-world analytical scenarios, the project formulated and solved 15 structured business questions divided into three distinct difficulty tiers (Easy, Intermediate, and Advanced) using advanced SQL queries.</a:t>
            </a: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534987"/>
            <a:ext cx="9516527" cy="535205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527248"/>
            <a:ext cx="9859121" cy="536753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1476772"/>
            <a:ext cx="10868745" cy="338931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547092"/>
            <a:ext cx="9519106" cy="53530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546993"/>
            <a:ext cx="9859121" cy="532814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524470"/>
            <a:ext cx="9689163" cy="538579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524570"/>
            <a:ext cx="10868745" cy="533409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554633"/>
            <a:ext cx="9519106" cy="533787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552351"/>
            <a:ext cx="9519106" cy="534253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550466"/>
            <a:ext cx="9519106" cy="534620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559395"/>
            <a:ext cx="9519106" cy="532844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533698"/>
            <a:ext cx="9519106" cy="537974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558502"/>
            <a:ext cx="9689163" cy="531762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552946"/>
            <a:ext cx="9859121" cy="531624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534392"/>
            <a:ext cx="9689163" cy="536584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661475" y="2084685"/>
            <a:ext cx="10868745" cy="590649"/>
          </a:xfrm>
          <a:prstGeom prst="rect">
            <a:avLst/>
          </a:prstGeom>
          <a:noFill/>
          <a:ln/>
        </p:spPr>
        <p:txBody>
          <a:bodyPr wrap="none" lIns="0" tIns="0" rIns="0" bIns="0" rtlCol="0" anchor="t"/>
          <a:lstStyle/>
          <a:p>
            <a:pPr algn="l" indent="0" marL="0">
              <a:lnSpc>
                <a:spcPct val="104000"/>
              </a:lnSpc>
              <a:buNone/>
            </a:pPr>
            <a:r>
              <a:rPr lang="en-US" sz="3700" b="1" spc="-112" kern="0" dirty="0">
                <a:solidFill>
                  <a:srgbClr val="FFFFFF"/>
                </a:solidFill>
                <a:latin typeface="Inter Bold" pitchFamily="34" charset="0"/>
                <a:ea typeface="Inter Bold" pitchFamily="34" charset="-122"/>
                <a:cs typeface="Inter Bold" pitchFamily="34" charset="-120"/>
              </a:rPr>
              <a:t>Project Outcome</a:t>
            </a:r>
            <a:endParaRPr lang="en-US" sz="3700" dirty="0"/>
          </a:p>
        </p:txBody>
      </p:sp>
      <p:sp>
        <p:nvSpPr>
          <p:cNvPr id="3" name="Text 1"/>
          <p:cNvSpPr/>
          <p:nvPr/>
        </p:nvSpPr>
        <p:spPr>
          <a:xfrm>
            <a:off x="661475" y="2958802"/>
            <a:ext cx="10868745" cy="1814513"/>
          </a:xfrm>
          <a:prstGeom prst="rect">
            <a:avLst/>
          </a:prstGeom>
          <a:noFill/>
          <a:ln/>
        </p:spPr>
        <p:txBody>
          <a:bodyPr wrap="square" lIns="0" tIns="0" rIns="0" bIns="0" rtlCol="0" anchor="t">
            <a:normAutofit/>
          </a:bodyPr>
          <a:lstStyle/>
          <a:p>
            <a:pPr algn="l" indent="0" marL="0">
              <a:lnSpc>
                <a:spcPct val="133000"/>
              </a:lnSpc>
              <a:buNone/>
            </a:pPr>
            <a:r>
              <a:rPr lang="en-US" sz="1450" spc="-30" kern="0" dirty="0">
                <a:solidFill>
                  <a:srgbClr val="FFFFFF"/>
                </a:solidFill>
                <a:latin typeface="Inter" pitchFamily="34" charset="0"/>
                <a:ea typeface="Inter" pitchFamily="34" charset="-122"/>
                <a:cs typeface="Inter" pitchFamily="34" charset="-120"/>
              </a:rPr>
              <a:t>This project significantly improved my ability to work with SQL in a real-world business context. Instead of focusing only on SQL syntax, I learned how to transform raw data into meaningful business insights by following a complete analytical workflow. From understanding the dataset and building a relational database to performing exploratory analysis, solving business problems, and documenting the entire process, this project strengthened my practical SQL skills and analytical thinking. It also provided valuable experience in presenting a professional, portfolio-ready data analytics project using industry-standard tools and best practices.</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2026-08-25T21:20:00Z</dcterms:created>
  <dcterms:modified xsi:type="dcterms:W3CDTF">2026-08-25T21:20:00Z</dcterms:modified>
</cp:coreProperties>
</file>